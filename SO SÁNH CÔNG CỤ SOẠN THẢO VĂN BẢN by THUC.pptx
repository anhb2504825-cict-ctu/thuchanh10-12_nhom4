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K2D Medium" panose="00000600000000000000" pitchFamily="2" charset="-34"/>
      <p:regular r:id="rId11"/>
      <p:italic r:id="rId12"/>
    </p:embeddedFont>
    <p:embeddedFont>
      <p:font typeface="K2D ExtraBold" panose="00000900000000000000" pitchFamily="2" charset="-34"/>
      <p:bold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37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2716CEC-4EB7-4AF5-B8B4-13A4AA74F1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58851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  <a:endParaRPr lang="en-US" altLang="en-US" noProof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A8B1175-CAAE-4DE1-9BCE-EE12E15485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  <a:endParaRPr lang="en-US" altLang="en-US" noProof="0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4EFCFD27-3C59-440E-9355-8E61DE9E9F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8128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18A37AE1-76EA-4F7C-89AE-6531C0C56B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E348B9C2-253F-43BD-BBE7-0B4969811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955617" y="6230939"/>
            <a:ext cx="2844800" cy="549275"/>
          </a:xfrm>
        </p:spPr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2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FED8-62E4-44F9-8635-073E7D21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F88E-6176-40DB-A4F0-5F9D10D14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D7C81-1B47-4037-B98B-75A1F401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4BD4-42E2-497A-AD54-B10928A4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080A8-4B04-4A76-AD9D-D3373B2C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1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E863-2F38-493E-AC5F-35F839AB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1EE57-4E33-4768-BDE6-1E42E78CC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7056-25E1-4B67-85BD-73087B72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0AFD-04FE-4D58-8BBC-B3312F47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0AEAA-EABC-4389-89FD-1194EAE5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8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3C47-6B83-4D40-8FFA-423CDED8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CE053-7F00-4D26-A49E-468074BDA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33538"/>
            <a:ext cx="5384800" cy="46910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BA0AC-734F-47AA-97FD-4DA7FEF91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1633538"/>
            <a:ext cx="5384800" cy="46910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11179-6CFA-425B-9D7F-2BE02065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E626E-637B-499E-9E2C-ACC64C09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7475E-6A5C-42A5-8A22-58443942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4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F325-80E3-4F90-BD69-5037DB90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C193B-2F0E-4826-9109-B6307A9C0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24B64-B380-470F-9CDE-73C0D43F6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0F4E0-0F61-4F55-8A7A-765984DF7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5C38B-8A04-4272-A3E6-393D95555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373DA-5867-4829-AD43-C6FCC79A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764FC-FDFA-416E-997C-F691587D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741E6-72FD-4F69-97E8-CAC734DC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3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B71A-EE87-467A-AD67-4ECCFB0E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EB2EF-2DBC-41CB-8232-B6E49BCB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83847-6C7C-4715-98B9-D40636DA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D5148-3F8F-464B-A3E1-5F680B45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7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D4DB3-3677-453C-AD63-255313C4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E578C-2E20-4473-943A-093C5C31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681F5-37CC-4FFE-98C1-BDE69E13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8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0611-3704-4861-BD88-F503F43F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25AB-F178-4E56-A78A-D3E5D8B2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C3404-B5CD-41A1-BD0C-CEB1CDB87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3B3B-2157-4986-A6D1-D21E38C8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720C0-253D-4EFB-8A0E-096A4FC7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8D71A-2EC3-4B1C-AE98-CEF4BA88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11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A99F-9EE0-4942-BCEE-A1E732C0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78B66-2785-4358-A99C-30D13EE9A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8E7B7-693B-436C-ACFB-D578D6C85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9676D-A17F-46ED-B322-996E92C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8B656-A461-4B3F-8ECD-A1C58EEC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5B36D-F955-462B-899C-F46A6F9E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1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2BBF-5276-4192-BA57-B0752687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C078B-EB7B-44AD-A4C2-B8DC31D9B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7DE7E-9122-41D3-A66E-3CDCBCE9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5EA4-62DF-493C-B19B-64550981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01BB-D36E-4AE2-BE8A-E50EB27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6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5C4325-1A15-4599-B036-9FA60518A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42400" y="282576"/>
            <a:ext cx="2743200" cy="6042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2199C-8BFD-4358-9055-518928EA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12800" y="282576"/>
            <a:ext cx="8026400" cy="60420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4E68E-040F-4912-9B7B-725CFB7D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9E95-5F5B-4E87-9B2F-A9A70957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FE7F3-EC17-415F-863D-DF17690E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9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405D41-0CC5-41DF-A29F-0509945FC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36800" y="282576"/>
            <a:ext cx="94488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E07D3DA-2B85-42CC-8062-8B65F6758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33538"/>
            <a:ext cx="10972800" cy="469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  <a:endParaRPr lang="en-US" altLang="en-US" dirty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E20C1-4C65-4624-AA2D-747E84F1D3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78563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A4F0C307-5C7A-4305-B132-2F60EE21A35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6370B7-BED3-4B38-A932-BD0A5880CB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25851" y="62833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8F6441-6898-4A31-A185-8673B9B54A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226175"/>
            <a:ext cx="2844800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01ADDC6-B349-4F06-A066-FAFA5FAE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7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rgbClr val="996633"/>
          </a:solidFill>
          <a:latin typeface="K2D ExtraBold" panose="00000900000000000000" pitchFamily="2" charset="-34"/>
          <a:ea typeface="+mj-ea"/>
          <a:cs typeface="K2D ExtraBold" panose="00000900000000000000" pitchFamily="2" charset="-34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900" kern="1200">
          <a:solidFill>
            <a:srgbClr val="000066"/>
          </a:solidFill>
          <a:latin typeface="K2D Medium" panose="00000600000000000000" pitchFamily="2" charset="-34"/>
          <a:ea typeface="+mn-ea"/>
          <a:cs typeface="K2D Medium" panose="00000600000000000000" pitchFamily="2" charset="-34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600" kern="1200">
          <a:solidFill>
            <a:srgbClr val="000066"/>
          </a:solidFill>
          <a:latin typeface="K2D Medium" panose="00000600000000000000" pitchFamily="2" charset="-34"/>
          <a:ea typeface="+mn-ea"/>
          <a:cs typeface="K2D Medium" panose="00000600000000000000" pitchFamily="2" charset="-34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 kern="1200">
          <a:solidFill>
            <a:srgbClr val="000066"/>
          </a:solidFill>
          <a:latin typeface="K2D Medium" panose="00000600000000000000" pitchFamily="2" charset="-34"/>
          <a:ea typeface="+mn-ea"/>
          <a:cs typeface="K2D Medium" panose="00000600000000000000" pitchFamily="2" charset="-34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ern="1200">
          <a:solidFill>
            <a:srgbClr val="000066"/>
          </a:solidFill>
          <a:latin typeface="K2D Medium" panose="00000600000000000000" pitchFamily="2" charset="-34"/>
          <a:ea typeface="+mn-ea"/>
          <a:cs typeface="K2D Medium" panose="00000600000000000000" pitchFamily="2" charset="-34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ern="1200">
          <a:solidFill>
            <a:srgbClr val="000066"/>
          </a:solidFill>
          <a:latin typeface="K2D Medium" panose="00000600000000000000" pitchFamily="2" charset="-34"/>
          <a:ea typeface="+mn-ea"/>
          <a:cs typeface="K2D Medium" panose="00000600000000000000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389" y="2416175"/>
            <a:ext cx="11360611" cy="1470025"/>
          </a:xfrm>
        </p:spPr>
        <p:txBody>
          <a:bodyPr/>
          <a:lstStyle/>
          <a:p>
            <a:pPr algn="ctr"/>
            <a:r>
              <a:rPr lang="vi-VN" sz="4800" dirty="0" smtClean="0">
                <a:gradFill flip="none" rotWithShape="1">
                  <a:gsLst>
                    <a:gs pos="83000">
                      <a:srgbClr val="0070C0">
                        <a:tint val="66000"/>
                        <a:satMod val="160000"/>
                      </a:srgbClr>
                    </a:gs>
                    <a:gs pos="90000">
                      <a:srgbClr val="0070C0">
                        <a:tint val="44500"/>
                        <a:satMod val="160000"/>
                      </a:srgbClr>
                    </a:gs>
                    <a:gs pos="100000">
                      <a:srgbClr val="0070C0">
                        <a:tint val="23500"/>
                        <a:satMod val="16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K2D ExtraBold" panose="00000900000000000000" pitchFamily="2" charset="-34"/>
                <a:cs typeface="K2D ExtraBold" panose="00000900000000000000" pitchFamily="2" charset="-34"/>
              </a:rPr>
              <a:t>SO SÁNH CÔNG CỤ SOẠN THẢO VĂN BẢN (MS WORD - GOOGLE DOCS – LATEX)</a:t>
            </a:r>
            <a:r>
              <a:rPr lang="en-US" sz="4800" dirty="0" smtClean="0">
                <a:gradFill flip="none" rotWithShape="1">
                  <a:gsLst>
                    <a:gs pos="83000">
                      <a:srgbClr val="0070C0">
                        <a:tint val="66000"/>
                        <a:satMod val="160000"/>
                      </a:srgbClr>
                    </a:gs>
                    <a:gs pos="90000">
                      <a:srgbClr val="0070C0">
                        <a:tint val="44500"/>
                        <a:satMod val="160000"/>
                      </a:srgbClr>
                    </a:gs>
                    <a:gs pos="100000">
                      <a:srgbClr val="0070C0">
                        <a:tint val="23500"/>
                        <a:satMod val="16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K2D ExtraBold" panose="00000900000000000000" pitchFamily="2" charset="-34"/>
                <a:cs typeface="K2D ExtraBold" panose="00000900000000000000" pitchFamily="2" charset="-34"/>
              </a:rPr>
              <a:t/>
            </a:r>
            <a:br>
              <a:rPr lang="en-US" sz="4800" dirty="0" smtClean="0">
                <a:gradFill flip="none" rotWithShape="1">
                  <a:gsLst>
                    <a:gs pos="83000">
                      <a:srgbClr val="0070C0">
                        <a:tint val="66000"/>
                        <a:satMod val="160000"/>
                      </a:srgbClr>
                    </a:gs>
                    <a:gs pos="90000">
                      <a:srgbClr val="0070C0">
                        <a:tint val="44500"/>
                        <a:satMod val="160000"/>
                      </a:srgbClr>
                    </a:gs>
                    <a:gs pos="100000">
                      <a:srgbClr val="0070C0">
                        <a:tint val="23500"/>
                        <a:satMod val="16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K2D ExtraBold" panose="00000900000000000000" pitchFamily="2" charset="-34"/>
                <a:cs typeface="K2D ExtraBold" panose="00000900000000000000" pitchFamily="2" charset="-34"/>
              </a:rPr>
            </a:br>
            <a:endParaRPr lang="en-US" sz="4800" dirty="0">
              <a:gradFill flip="none" rotWithShape="1">
                <a:gsLst>
                  <a:gs pos="83000">
                    <a:srgbClr val="0070C0">
                      <a:tint val="66000"/>
                      <a:satMod val="160000"/>
                    </a:srgbClr>
                  </a:gs>
                  <a:gs pos="9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K2D ExtraBold" panose="00000900000000000000" pitchFamily="2" charset="-34"/>
              <a:cs typeface="K2D ExtraBold" panose="000009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85706"/>
            <a:ext cx="8534400" cy="1752600"/>
          </a:xfrm>
        </p:spPr>
        <p:txBody>
          <a:bodyPr/>
          <a:lstStyle/>
          <a:p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Nền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</a:t>
            </a:r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Tảng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</a:t>
            </a:r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Công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</a:t>
            </a:r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Nghệ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</a:t>
            </a:r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Số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01</a:t>
            </a:r>
          </a:p>
          <a:p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THS.Nguyễn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Minh </a:t>
            </a:r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Trung</a:t>
            </a:r>
            <a:endParaRPr lang="en-US" b="1" dirty="0" smtClean="0">
              <a:latin typeface="K2D Medium" panose="00000600000000000000" pitchFamily="2" charset="-34"/>
              <a:cs typeface="K2D Medium" panose="00000600000000000000" pitchFamily="2" charset="-34"/>
            </a:endParaRPr>
          </a:p>
          <a:p>
            <a:r>
              <a:rPr lang="en-US" b="1" dirty="0" err="1" smtClean="0">
                <a:latin typeface="K2D Medium" panose="00000600000000000000" pitchFamily="2" charset="-34"/>
                <a:cs typeface="K2D Medium" panose="00000600000000000000" pitchFamily="2" charset="-34"/>
              </a:rPr>
              <a:t>Nhóm</a:t>
            </a:r>
            <a:r>
              <a:rPr lang="en-US" b="1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 04</a:t>
            </a:r>
            <a:endParaRPr lang="en-US" b="1" dirty="0">
              <a:latin typeface="K2D Medium" panose="00000600000000000000" pitchFamily="2" charset="-34"/>
              <a:cs typeface="K2D Medium" panose="00000600000000000000" pitchFamily="2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7" y="3448050"/>
            <a:ext cx="3857623" cy="3857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94" y="4682375"/>
            <a:ext cx="2311861" cy="2311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017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11111E-6 L -1.25E-6 -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2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8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22222E-6 L -0.02383 -0.188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8" y="-942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1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1244" y="548583"/>
            <a:ext cx="9448800" cy="944563"/>
          </a:xfrm>
        </p:spPr>
        <p:txBody>
          <a:bodyPr/>
          <a:lstStyle/>
          <a:p>
            <a:r>
              <a:rPr lang="vi-VN" dirty="0" smtClean="0">
                <a:solidFill>
                  <a:srgbClr val="0070C0"/>
                </a:solidFill>
                <a:latin typeface="K2D ExtraBold" panose="00000900000000000000" pitchFamily="2" charset="-34"/>
                <a:cs typeface="K2D ExtraBold" panose="00000900000000000000" pitchFamily="2" charset="-34"/>
              </a:rPr>
              <a:t>1. GIỚI THIỆU CHUNG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4731"/>
            <a:ext cx="5321993" cy="4691062"/>
          </a:xfrm>
        </p:spPr>
        <p:txBody>
          <a:bodyPr/>
          <a:lstStyle/>
          <a:p>
            <a:r>
              <a:rPr lang="vi-VN" dirty="0" smtClean="0">
                <a:latin typeface="K2D Medium" panose="00000600000000000000" pitchFamily="2" charset="-34"/>
                <a:cs typeface="K2D Medium" panose="00000600000000000000" pitchFamily="2" charset="-34"/>
              </a:rPr>
              <a:t>Tùy </a:t>
            </a:r>
            <a:r>
              <a:rPr lang="vi-VN" dirty="0">
                <a:latin typeface="K2D Medium" panose="00000600000000000000" pitchFamily="2" charset="-34"/>
                <a:cs typeface="K2D Medium" panose="00000600000000000000" pitchFamily="2" charset="-34"/>
              </a:rPr>
              <a:t>vào mục đích sử dụng như làm báo cáo thực tập, viết bài báo khoa học hay làm việc nhóm, mỗi công cụ đều bộc lộ những </a:t>
            </a:r>
            <a:r>
              <a:rPr lang="vi-VN" dirty="0">
                <a:solidFill>
                  <a:srgbClr val="00B050"/>
                </a:solidFill>
                <a:latin typeface="K2D Medium" panose="00000600000000000000" pitchFamily="2" charset="-34"/>
                <a:cs typeface="K2D Medium" panose="00000600000000000000" pitchFamily="2" charset="-34"/>
              </a:rPr>
              <a:t>ưu</a:t>
            </a:r>
            <a:r>
              <a:rPr lang="vi-VN" dirty="0">
                <a:latin typeface="K2D Medium" panose="00000600000000000000" pitchFamily="2" charset="-34"/>
                <a:cs typeface="K2D Medium" panose="00000600000000000000" pitchFamily="2" charset="-34"/>
              </a:rPr>
              <a:t> và </a:t>
            </a:r>
            <a:r>
              <a:rPr lang="vi-VN" dirty="0">
                <a:solidFill>
                  <a:srgbClr val="FF0000"/>
                </a:solidFill>
                <a:latin typeface="K2D Medium" panose="00000600000000000000" pitchFamily="2" charset="-34"/>
                <a:cs typeface="K2D Medium" panose="00000600000000000000" pitchFamily="2" charset="-34"/>
              </a:rPr>
              <a:t>nhược điểm </a:t>
            </a:r>
            <a:r>
              <a:rPr lang="vi-VN" dirty="0">
                <a:latin typeface="K2D Medium" panose="00000600000000000000" pitchFamily="2" charset="-34"/>
                <a:cs typeface="K2D Medium" panose="00000600000000000000" pitchFamily="2" charset="-34"/>
              </a:rPr>
              <a:t>riêng biệt. Bài báo cáo này sẽ đi sâu vào phân tích ba </a:t>
            </a:r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K2D Medium" panose="00000600000000000000" pitchFamily="2" charset="-34"/>
                <a:cs typeface="K2D Medium" panose="00000600000000000000" pitchFamily="2" charset="-34"/>
              </a:rPr>
              <a:t>"ông lớn" </a:t>
            </a:r>
            <a:r>
              <a:rPr lang="vi-VN" dirty="0">
                <a:latin typeface="K2D Medium" panose="00000600000000000000" pitchFamily="2" charset="-34"/>
                <a:cs typeface="K2D Medium" panose="00000600000000000000" pitchFamily="2" charset="-34"/>
              </a:rPr>
              <a:t>đại diện cho hai triết lý soạn thảo phổ biến nhất hiện nay.</a:t>
            </a:r>
            <a:endParaRPr lang="en-US" dirty="0">
              <a:latin typeface="K2D Medium" panose="00000600000000000000" pitchFamily="2" charset="-34"/>
              <a:cs typeface="K2D Medium" panose="00000600000000000000" pitchFamily="2" charset="-34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043" y="1766542"/>
            <a:ext cx="2449484" cy="2281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309" y="4596264"/>
            <a:ext cx="3654983" cy="1522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7387" y="1767123"/>
            <a:ext cx="1747737" cy="2403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6360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432205"/>
            <a:ext cx="9448800" cy="944563"/>
          </a:xfrm>
        </p:spPr>
        <p:txBody>
          <a:bodyPr/>
          <a:lstStyle/>
          <a:p>
            <a:r>
              <a:rPr lang="vi-VN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2. LỊCH SỬ HÌNH THÀNH VÀ PHÁT TRIỂN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7858"/>
            <a:ext cx="6793345" cy="4691062"/>
          </a:xfrm>
        </p:spPr>
        <p:txBody>
          <a:bodyPr/>
          <a:lstStyle/>
          <a:p>
            <a:r>
              <a:rPr lang="vi-VN" sz="2800" b="1" dirty="0"/>
              <a:t>Microsoft Word (1983):</a:t>
            </a:r>
            <a:r>
              <a:rPr lang="vi-VN" sz="2800" dirty="0"/>
              <a:t> Là </a:t>
            </a:r>
            <a:r>
              <a:rPr lang="vi-VN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"tượng đài" </a:t>
            </a:r>
            <a:r>
              <a:rPr lang="vi-VN" sz="2800" dirty="0"/>
              <a:t>trong giới văn phòng. Được phát triển bởi </a:t>
            </a:r>
            <a:r>
              <a:rPr lang="vi-VN" sz="2800" dirty="0" smtClean="0"/>
              <a:t>Microsoft</a:t>
            </a:r>
            <a:endParaRPr lang="en-US" sz="2800" dirty="0" smtClean="0"/>
          </a:p>
          <a:p>
            <a:pPr lvl="0"/>
            <a:r>
              <a:rPr lang="en-US" dirty="0"/>
              <a:t>Đ</a:t>
            </a:r>
            <a:r>
              <a:rPr lang="vi-VN" dirty="0" smtClean="0"/>
              <a:t>ịnh </a:t>
            </a:r>
            <a:r>
              <a:rPr lang="vi-VN" dirty="0"/>
              <a:t>hình tiêu chuẩn cho kiểu soạn thảo </a:t>
            </a:r>
            <a:r>
              <a:rPr lang="vi-V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WYSIWYG</a:t>
            </a:r>
            <a:r>
              <a:rPr lang="vi-VN" dirty="0"/>
              <a:t> (What You See Is What You Get - Cái bạn thấy là cái bạn nhận được).</a:t>
            </a:r>
            <a:endParaRPr lang="en-US" dirty="0"/>
          </a:p>
          <a:p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2610716"/>
            <a:ext cx="4804756" cy="176574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7625709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432205"/>
            <a:ext cx="9448800" cy="944563"/>
          </a:xfrm>
        </p:spPr>
        <p:txBody>
          <a:bodyPr/>
          <a:lstStyle/>
          <a:p>
            <a:r>
              <a:rPr lang="vi-VN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2. LỊCH SỬ HÌNH THÀNH VÀ PHÁT TRIỂN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7858"/>
            <a:ext cx="6793345" cy="4691062"/>
          </a:xfrm>
        </p:spPr>
        <p:txBody>
          <a:bodyPr/>
          <a:lstStyle/>
          <a:p>
            <a:r>
              <a:rPr lang="vi-VN" b="1" dirty="0"/>
              <a:t>Google Docs (2006):</a:t>
            </a:r>
            <a:r>
              <a:rPr lang="vi-VN" dirty="0"/>
              <a:t> Ra đời muộn hơn nhưng đã thay đổi hoàn toàn cuộc chơi bằng cách đưa việc soạn thảo lên </a:t>
            </a:r>
            <a:r>
              <a:rPr lang="vi-VN" dirty="0">
                <a:solidFill>
                  <a:schemeClr val="accent1">
                    <a:lumMod val="50000"/>
                  </a:schemeClr>
                </a:solidFill>
              </a:rPr>
              <a:t>"đám mây". </a:t>
            </a:r>
            <a:r>
              <a:rPr lang="vi-VN" dirty="0"/>
              <a:t>Nó ưu tiên sự tiện lợi, miễn phí và khả năng cộng tác tức thời.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824" y="1604790"/>
            <a:ext cx="3922482" cy="2176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24" y="4009550"/>
            <a:ext cx="3922482" cy="2253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2238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432205"/>
            <a:ext cx="9448800" cy="944563"/>
          </a:xfrm>
        </p:spPr>
        <p:txBody>
          <a:bodyPr/>
          <a:lstStyle/>
          <a:p>
            <a:r>
              <a:rPr lang="vi-VN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2. LỊCH SỬ HÌNH THÀNH VÀ PHÁT TRIỂN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7858"/>
            <a:ext cx="6793345" cy="4691062"/>
          </a:xfrm>
        </p:spPr>
        <p:txBody>
          <a:bodyPr/>
          <a:lstStyle/>
          <a:p>
            <a:pPr lvl="0"/>
            <a:r>
              <a:rPr lang="vi-VN" b="1" dirty="0"/>
              <a:t>LaTeX (1984):</a:t>
            </a:r>
            <a:r>
              <a:rPr lang="vi-VN" dirty="0"/>
              <a:t> Được </a:t>
            </a:r>
            <a:r>
              <a:rPr lang="vi-VN" dirty="0">
                <a:solidFill>
                  <a:srgbClr val="00B050"/>
                </a:solidFill>
              </a:rPr>
              <a:t>Leslie Lamport </a:t>
            </a:r>
            <a:r>
              <a:rPr lang="vi-VN" dirty="0"/>
              <a:t>phát triển dựa trên hệ thống TeX. Khác với hai công cụ trên, LaTeX đi theo triết lý </a:t>
            </a:r>
            <a:r>
              <a:rPr lang="vi-VN" b="1" dirty="0">
                <a:solidFill>
                  <a:srgbClr val="7030A0"/>
                </a:solidFill>
              </a:rPr>
              <a:t>WYSIWYM</a:t>
            </a:r>
            <a:r>
              <a:rPr lang="vi-VN" dirty="0"/>
              <a:t> (What You See Is What You Mean - Cái bạn thấy là cái bạn muốn diễn đạt), tập trung vào cấu trúc logic thay vì giao diện bề ngoài.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020" y="1907858"/>
            <a:ext cx="1712227" cy="171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816" y="4008142"/>
            <a:ext cx="1874872" cy="14061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705" y="1758204"/>
            <a:ext cx="1861881" cy="1861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200" y="3826952"/>
            <a:ext cx="1742575" cy="1742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03722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340765"/>
            <a:ext cx="9448800" cy="944563"/>
          </a:xfrm>
        </p:spPr>
        <p:txBody>
          <a:bodyPr/>
          <a:lstStyle/>
          <a:p>
            <a:r>
              <a:rPr lang="vi-VN" dirty="0">
                <a:solidFill>
                  <a:srgbClr val="7030A0"/>
                </a:solidFill>
              </a:rPr>
              <a:t>3. So sánh chi tiết các khía cạnh kỹ thuật</a:t>
            </a:r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415190"/>
              </p:ext>
            </p:extLst>
          </p:nvPr>
        </p:nvGraphicFramePr>
        <p:xfrm>
          <a:off x="914398" y="1627601"/>
          <a:ext cx="10515604" cy="469106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28901">
                  <a:extLst>
                    <a:ext uri="{9D8B030D-6E8A-4147-A177-3AD203B41FA5}">
                      <a16:colId xmlns:a16="http://schemas.microsoft.com/office/drawing/2014/main" val="1476312871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322807962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591155137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1515716375"/>
                    </a:ext>
                  </a:extLst>
                </a:gridCol>
              </a:tblGrid>
              <a:tr h="2468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Tiêu chí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Microsoft Word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Google Docs</a:t>
                      </a:r>
                      <a:endParaRPr lang="en-US" sz="120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LaTeX</a:t>
                      </a:r>
                      <a:endParaRPr lang="en-US" sz="120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extLst>
                  <a:ext uri="{0D108BD9-81ED-4DB2-BD59-A6C34878D82A}">
                    <a16:rowId xmlns:a16="http://schemas.microsoft.com/office/drawing/2014/main" val="4113132673"/>
                  </a:ext>
                </a:extLst>
              </a:tr>
              <a:tr h="1234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Cài đặt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Phần mềm nặng, cần bản </a:t>
                      </a:r>
                      <a:r>
                        <a:rPr lang="vi-VN" sz="1400" dirty="0" smtClean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quyền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Trình duyệt web, </a:t>
                      </a:r>
                      <a:r>
                        <a:rPr lang="vi-VN" sz="1400" dirty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cực nhẹ</a:t>
                      </a: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Cần bộ cài (MiKTeX/TeX Live) hoặc dùng online (Overleaf).</a:t>
                      </a:r>
                      <a:endParaRPr lang="en-US" sz="120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extLst>
                  <a:ext uri="{0D108BD9-81ED-4DB2-BD59-A6C34878D82A}">
                    <a16:rowId xmlns:a16="http://schemas.microsoft.com/office/drawing/2014/main" val="2041471140"/>
                  </a:ext>
                </a:extLst>
              </a:tr>
              <a:tr h="7406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Định dạng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Thủ công bằng chuột/phím </a:t>
                      </a:r>
                      <a:r>
                        <a:rPr lang="vi-VN" sz="1400" dirty="0" smtClean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tắt</a:t>
                      </a:r>
                      <a:r>
                        <a:rPr lang="en-US" sz="1400" dirty="0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, </a:t>
                      </a:r>
                      <a:r>
                        <a:rPr lang="en-US" sz="1400" dirty="0" err="1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quen</a:t>
                      </a:r>
                      <a:r>
                        <a:rPr lang="en-US" sz="1400" baseline="0" dirty="0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thuộc</a:t>
                      </a:r>
                      <a:r>
                        <a:rPr lang="en-US" sz="1400" baseline="0" dirty="0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với</a:t>
                      </a:r>
                      <a:r>
                        <a:rPr lang="en-US" sz="1400" baseline="0" dirty="0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học</a:t>
                      </a:r>
                      <a:r>
                        <a:rPr lang="en-US" sz="1400" baseline="0" dirty="0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sinh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chuột/phím tắt.Thủ công, đơn giản hóa.</a:t>
                      </a:r>
                      <a:endParaRPr lang="en-US" sz="120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rgbClr val="00B050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Tự động </a:t>
                      </a: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hoàn toàn bằng mã lệnh (Code).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extLst>
                  <a:ext uri="{0D108BD9-81ED-4DB2-BD59-A6C34878D82A}">
                    <a16:rowId xmlns:a16="http://schemas.microsoft.com/office/drawing/2014/main" val="668116276"/>
                  </a:ext>
                </a:extLst>
              </a:tr>
              <a:tr h="7406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Công thức Toán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Khá chậm, dễ bị lỗi font.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Rất cơ bản, không chuyên nghiệp.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Đỉnh cao, chuẩn mực cho các ngành kỹ thuật.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extLst>
                  <a:ext uri="{0D108BD9-81ED-4DB2-BD59-A6C34878D82A}">
                    <a16:rowId xmlns:a16="http://schemas.microsoft.com/office/drawing/2014/main" val="253072807"/>
                  </a:ext>
                </a:extLst>
              </a:tr>
              <a:tr h="9875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Quản lý trích dẫn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Cần phần mềm bên thứ 3 (EndNote).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Hạn chế, làm thủ công là chính.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Mạnh mẽ nhất với BibTeX, tự động đánh số và sắp xếp.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extLst>
                  <a:ext uri="{0D108BD9-81ED-4DB2-BD59-A6C34878D82A}">
                    <a16:rowId xmlns:a16="http://schemas.microsoft.com/office/drawing/2014/main" val="448056024"/>
                  </a:ext>
                </a:extLst>
              </a:tr>
              <a:tr h="7406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Tính ổn định</a:t>
                      </a:r>
                      <a:endParaRPr lang="en-US" sz="120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Dễ bị nhảy định dạng giữa các máy.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Ổn định trên mọi trình duyệt.</a:t>
                      </a:r>
                      <a:endParaRPr lang="en-US" sz="120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Tuyệt đối, xuất file PDF chuẩn xác 100%.</a:t>
                      </a:r>
                      <a:endParaRPr lang="en-US" sz="1200" dirty="0">
                        <a:effectLst/>
                        <a:latin typeface="K2D ExtraBold" panose="00000900000000000000" pitchFamily="2" charset="-34"/>
                        <a:ea typeface="Arial" panose="020B0604020202020204" pitchFamily="34" charset="0"/>
                        <a:cs typeface="K2D ExtraBold" panose="00000900000000000000" pitchFamily="2" charset="-34"/>
                      </a:endParaRPr>
                    </a:p>
                  </a:txBody>
                  <a:tcPr marL="68407" marR="68407" marT="0" marB="0"/>
                </a:tc>
                <a:extLst>
                  <a:ext uri="{0D108BD9-81ED-4DB2-BD59-A6C34878D82A}">
                    <a16:rowId xmlns:a16="http://schemas.microsoft.com/office/drawing/2014/main" val="3760081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9561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248" y="165611"/>
            <a:ext cx="5954927" cy="944563"/>
          </a:xfrm>
        </p:spPr>
        <p:txBody>
          <a:bodyPr/>
          <a:lstStyle/>
          <a:p>
            <a:r>
              <a:rPr lang="vi-VN" sz="2800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4. PHÂN TÍCH ƯU VÀ NHƯỢC ĐIỂM CHO NGƯỜI MỚI BẮT ĐẦU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91232"/>
            <a:ext cx="5188989" cy="4691062"/>
          </a:xfrm>
        </p:spPr>
        <p:txBody>
          <a:bodyPr/>
          <a:lstStyle/>
          <a:p>
            <a:r>
              <a:rPr lang="vi-VN" sz="2000" b="1" i="1" dirty="0"/>
              <a:t>4.1. MS Word &amp; Google Docs (Dành cho đại đa số)</a:t>
            </a:r>
            <a:endParaRPr lang="en-US" sz="2000" b="1" i="1" dirty="0"/>
          </a:p>
          <a:p>
            <a:pPr lvl="0"/>
            <a:r>
              <a:rPr lang="vi-VN" sz="2000" b="1" dirty="0"/>
              <a:t>Ưu điểm:</a:t>
            </a:r>
            <a:r>
              <a:rPr lang="vi-VN" sz="2000" dirty="0"/>
              <a:t> </a:t>
            </a:r>
            <a:r>
              <a:rPr lang="vi-VN" sz="2000" dirty="0">
                <a:solidFill>
                  <a:schemeClr val="accent1">
                    <a:lumMod val="50000"/>
                  </a:schemeClr>
                </a:solidFill>
              </a:rPr>
              <a:t>Làm quen cực nhanh</a:t>
            </a:r>
            <a:r>
              <a:rPr lang="vi-VN" sz="2000" dirty="0"/>
              <a:t>, </a:t>
            </a:r>
            <a:r>
              <a:rPr lang="vi-VN" sz="2000" dirty="0">
                <a:solidFill>
                  <a:schemeClr val="accent1">
                    <a:lumMod val="50000"/>
                  </a:schemeClr>
                </a:solidFill>
              </a:rPr>
              <a:t>không cần học code</a:t>
            </a:r>
            <a:r>
              <a:rPr lang="vi-VN" sz="2000" dirty="0"/>
              <a:t>. Rất phù hợp cho các bài luận ngắn, biên bản họp hoặc báo cáo không quá phức tạp về trình bày. Google Docs đặc biệt mạnh khi </a:t>
            </a:r>
            <a:r>
              <a:rPr lang="vi-VN" sz="2000" dirty="0">
                <a:solidFill>
                  <a:schemeClr val="accent1">
                    <a:lumMod val="50000"/>
                  </a:schemeClr>
                </a:solidFill>
              </a:rPr>
              <a:t>làm bài tập nhóm vì mọi người có thể sửa cùng lúc</a:t>
            </a:r>
            <a:r>
              <a:rPr lang="vi-VN" sz="2000" dirty="0"/>
              <a:t>.</a:t>
            </a:r>
            <a:endParaRPr lang="en-US" sz="2000" dirty="0"/>
          </a:p>
          <a:p>
            <a:pPr lvl="0"/>
            <a:r>
              <a:rPr lang="vi-VN" sz="2000" b="1" dirty="0"/>
              <a:t>Nhược điểm:</a:t>
            </a:r>
            <a:r>
              <a:rPr lang="vi-VN" sz="2000" dirty="0"/>
              <a:t> Khi tài liệu lên đến hàng trăm trang với hàng chục hình ảnh, Word rất </a:t>
            </a:r>
            <a:r>
              <a:rPr lang="vi-VN" sz="2000" dirty="0">
                <a:solidFill>
                  <a:schemeClr val="accent1">
                    <a:lumMod val="50000"/>
                  </a:schemeClr>
                </a:solidFill>
              </a:rPr>
              <a:t>dễ bị treo </a:t>
            </a:r>
            <a:r>
              <a:rPr lang="vi-VN" sz="2000" dirty="0"/>
              <a:t>hoặc "</a:t>
            </a:r>
            <a:r>
              <a:rPr lang="vi-VN" sz="2000" dirty="0">
                <a:solidFill>
                  <a:schemeClr val="accent1">
                    <a:lumMod val="50000"/>
                  </a:schemeClr>
                </a:solidFill>
              </a:rPr>
              <a:t>nhảy" hình</a:t>
            </a:r>
            <a:r>
              <a:rPr lang="vi-VN" sz="2000" dirty="0"/>
              <a:t>, làm mất rất nhiều thời gian để chỉnh lại lề và mục lục.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773" y="1694893"/>
            <a:ext cx="2575272" cy="1172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676" y="2409401"/>
            <a:ext cx="2872424" cy="1914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Multiply 6"/>
          <p:cNvSpPr/>
          <p:nvPr/>
        </p:nvSpPr>
        <p:spPr>
          <a:xfrm>
            <a:off x="8829676" y="2281025"/>
            <a:ext cx="3131315" cy="20433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8586"/>
          <a:stretch/>
        </p:blipFill>
        <p:spPr>
          <a:xfrm>
            <a:off x="5530503" y="4549226"/>
            <a:ext cx="3723848" cy="1787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22336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248" y="165611"/>
            <a:ext cx="5954927" cy="944563"/>
          </a:xfrm>
        </p:spPr>
        <p:txBody>
          <a:bodyPr/>
          <a:lstStyle/>
          <a:p>
            <a:r>
              <a:rPr lang="vi-VN" sz="2800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4. PHÂN TÍCH ƯU VÀ NHƯỢC ĐIỂM CHO NGƯỜI MỚI BẮT ĐẦU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91232"/>
            <a:ext cx="5188989" cy="4691062"/>
          </a:xfrm>
        </p:spPr>
        <p:txBody>
          <a:bodyPr/>
          <a:lstStyle/>
          <a:p>
            <a:r>
              <a:rPr lang="vi-VN" sz="2000" b="1" i="1" dirty="0"/>
              <a:t>4.2. LaTeX (Dành cho dân kỹ thuật và nghiên cứu)</a:t>
            </a:r>
            <a:endParaRPr lang="en-US" sz="2000" b="1" i="1" dirty="0"/>
          </a:p>
          <a:p>
            <a:pPr lvl="0"/>
            <a:r>
              <a:rPr lang="vi-VN" sz="2000" b="1" dirty="0"/>
              <a:t>Ưu điểm:</a:t>
            </a:r>
            <a:r>
              <a:rPr lang="vi-VN" sz="2000" dirty="0"/>
              <a:t> Bạn chỉ cần tập trung vào nội dung. Bạn viết chương 1, chương 2... LaTeX </a:t>
            </a:r>
            <a:r>
              <a:rPr lang="vi-V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sẽ</a:t>
            </a:r>
            <a:r>
              <a:rPr lang="vi-VN" sz="2000" dirty="0"/>
              <a:t> </a:t>
            </a:r>
            <a:r>
              <a:rPr lang="vi-V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tự lo số trang, mục lục, danh mục hình ảnh </a:t>
            </a:r>
            <a:r>
              <a:rPr lang="vi-VN" sz="2000" dirty="0"/>
              <a:t>một cách hoàn hảo. Hình ảnh và bảng </a:t>
            </a:r>
            <a:r>
              <a:rPr lang="vi-V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biểu luôn nằm đúng vị trí logic.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vi-VN" sz="2000" b="1" dirty="0"/>
              <a:t>Nhược điểm:</a:t>
            </a:r>
            <a:r>
              <a:rPr lang="vi-VN" sz="2000" dirty="0"/>
              <a:t> Đường cong học tập (learning curve) khá dốc. Người mới sẽ thấy </a:t>
            </a:r>
            <a:r>
              <a:rPr lang="vi-V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nản</a:t>
            </a:r>
            <a:r>
              <a:rPr lang="vi-VN" sz="2000" dirty="0"/>
              <a:t> khi phải gõ mã lệnh như </a:t>
            </a:r>
            <a:r>
              <a:rPr lang="vi-V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\begin{itemize} chỉ để tạo một danh sách gạch đầu dòng</a:t>
            </a:r>
            <a:r>
              <a:rPr lang="vi-VN" sz="2000" dirty="0"/>
              <a:t>.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561" y="1824557"/>
            <a:ext cx="2479786" cy="19663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854" y="4248056"/>
            <a:ext cx="5590420" cy="156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0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248" y="165611"/>
            <a:ext cx="5954927" cy="944563"/>
          </a:xfrm>
        </p:spPr>
        <p:txBody>
          <a:bodyPr/>
          <a:lstStyle/>
          <a:p>
            <a:r>
              <a:rPr lang="vi-VN" sz="28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4.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NHỮNG HIỂU BIẾT VỀ BẢO MẬT</a:t>
            </a:r>
            <a:endParaRPr lang="en-US" sz="2800" dirty="0">
              <a:solidFill>
                <a:schemeClr val="accent1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029610"/>
              </p:ext>
            </p:extLst>
          </p:nvPr>
        </p:nvGraphicFramePr>
        <p:xfrm>
          <a:off x="932548" y="2115639"/>
          <a:ext cx="10640328" cy="3437436"/>
        </p:xfrm>
        <a:graphic>
          <a:graphicData uri="http://schemas.openxmlformats.org/drawingml/2006/table">
            <a:tbl>
              <a:tblPr/>
              <a:tblGrid>
                <a:gridCol w="2727521">
                  <a:extLst>
                    <a:ext uri="{9D8B030D-6E8A-4147-A177-3AD203B41FA5}">
                      <a16:colId xmlns:a16="http://schemas.microsoft.com/office/drawing/2014/main" val="3945274094"/>
                    </a:ext>
                  </a:extLst>
                </a:gridCol>
                <a:gridCol w="2727521">
                  <a:extLst>
                    <a:ext uri="{9D8B030D-6E8A-4147-A177-3AD203B41FA5}">
                      <a16:colId xmlns:a16="http://schemas.microsoft.com/office/drawing/2014/main" val="276609284"/>
                    </a:ext>
                  </a:extLst>
                </a:gridCol>
                <a:gridCol w="2727521">
                  <a:extLst>
                    <a:ext uri="{9D8B030D-6E8A-4147-A177-3AD203B41FA5}">
                      <a16:colId xmlns:a16="http://schemas.microsoft.com/office/drawing/2014/main" val="1644492246"/>
                    </a:ext>
                  </a:extLst>
                </a:gridCol>
                <a:gridCol w="2457765">
                  <a:extLst>
                    <a:ext uri="{9D8B030D-6E8A-4147-A177-3AD203B41FA5}">
                      <a16:colId xmlns:a16="http://schemas.microsoft.com/office/drawing/2014/main" val="564780132"/>
                    </a:ext>
                  </a:extLst>
                </a:gridCol>
              </a:tblGrid>
              <a:tr h="457480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Đặc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điểm</a:t>
                      </a:r>
                      <a:endParaRPr lang="en-US" sz="1600" b="1" kern="12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ea typeface="+mn-ea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ea typeface="+mn-ea"/>
                          <a:cs typeface="K2D ExtraBold" panose="00000900000000000000" pitchFamily="2" charset="-34"/>
                        </a:rPr>
                        <a:t>Microsoft Word</a:t>
                      </a: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ea typeface="+mn-ea"/>
                          <a:cs typeface="K2D ExtraBold" panose="00000900000000000000" pitchFamily="2" charset="-34"/>
                        </a:rPr>
                        <a:t>LaTeX</a:t>
                      </a:r>
                      <a:endParaRPr lang="en-US" sz="1600" b="1" kern="12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ea typeface="+mn-ea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ea typeface="+mn-ea"/>
                          <a:cs typeface="K2D ExtraBold" panose="00000900000000000000" pitchFamily="2" charset="-34"/>
                        </a:rPr>
                        <a:t>Google Docs</a:t>
                      </a:r>
                    </a:p>
                  </a:txBody>
                  <a:tcPr marL="43246" marR="43246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02344"/>
                  </a:ext>
                </a:extLst>
              </a:tr>
              <a:tr h="744989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Mối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đe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dọa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chính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Macro &amp; Malware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thực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thi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Shell escape &amp;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Đọc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file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hệ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thống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Lộ quyền truy cập &amp; Phishing</a:t>
                      </a:r>
                    </a:p>
                  </a:txBody>
                  <a:tcPr marL="43246" marR="43246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221558"/>
                  </a:ext>
                </a:extLst>
              </a:tr>
              <a:tr h="744989">
                <a:tc>
                  <a:txBody>
                    <a:bodyPr/>
                    <a:lstStyle/>
                    <a:p>
                      <a:pPr rtl="0"/>
                      <a:r>
                        <a:rPr lang="vi-VN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Quyền riêng tư</a:t>
                      </a:r>
                      <a:endParaRPr lang="vi-VN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Trung bình (Metadata ẩn)</a:t>
                      </a: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Cao (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Nếu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dùng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offline)</a:t>
                      </a: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Thấp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Dữ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liệu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nằm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trên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máy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chủ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Google)</a:t>
                      </a:r>
                    </a:p>
                  </a:txBody>
                  <a:tcPr marL="43246" marR="43246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695236"/>
                  </a:ext>
                </a:extLst>
              </a:tr>
              <a:tr h="744989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Mức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độ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kiểm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soát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Cao (Tệp nằm trên máy)</a:t>
                      </a: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Rất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cao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Mã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nguồn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mở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)</a:t>
                      </a: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Thấp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Phụ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thuộc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vào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nền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tảng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)</a:t>
                      </a:r>
                    </a:p>
                  </a:txBody>
                  <a:tcPr marL="43246" marR="43246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97523"/>
                  </a:ext>
                </a:extLst>
              </a:tr>
              <a:tr h="744989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Cách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phòng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ngừa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Tắt Macro, xóa Metadata</a:t>
                      </a: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Không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dùng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--shell-escape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bừa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bãi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K2D ExtraBold" panose="00000900000000000000" pitchFamily="2" charset="-34"/>
                        <a:cs typeface="K2D ExtraBold" panose="00000900000000000000" pitchFamily="2" charset="-34"/>
                      </a:endParaRPr>
                    </a:p>
                  </a:txBody>
                  <a:tcPr marL="43246" marR="54058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600" dirty="0">
                          <a:solidFill>
                            <a:srgbClr val="1F1F1F"/>
                          </a:solidFill>
                          <a:effectLst/>
                          <a:latin typeface="K2D ExtraBold" panose="00000900000000000000" pitchFamily="2" charset="-34"/>
                          <a:cs typeface="K2D ExtraBold" panose="00000900000000000000" pitchFamily="2" charset="-34"/>
                        </a:rPr>
                        <a:t>Kiểm tra kỹ quyền chia sẻ &amp; 2FA</a:t>
                      </a:r>
                    </a:p>
                  </a:txBody>
                  <a:tcPr marL="43246" marR="43246" marT="72077" marB="720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614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938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u Slide PowerPoint CTU_Old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 Slide PowerPoint CTU_Old</Template>
  <TotalTime>53</TotalTime>
  <Words>801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K2D Medium</vt:lpstr>
      <vt:lpstr>Arial</vt:lpstr>
      <vt:lpstr>K2D ExtraBold</vt:lpstr>
      <vt:lpstr>Mau Slide PowerPoint CTU_Old</vt:lpstr>
      <vt:lpstr>SO SÁNH CÔNG CỤ SOẠN THẢO VĂN BẢN (MS WORD - GOOGLE DOCS – LATEX) </vt:lpstr>
      <vt:lpstr>1. GIỚI THIỆU CHUNG </vt:lpstr>
      <vt:lpstr>2. LỊCH SỬ HÌNH THÀNH VÀ PHÁT TRIỂN </vt:lpstr>
      <vt:lpstr>2. LỊCH SỬ HÌNH THÀNH VÀ PHÁT TRIỂN </vt:lpstr>
      <vt:lpstr>2. LỊCH SỬ HÌNH THÀNH VÀ PHÁT TRIỂN </vt:lpstr>
      <vt:lpstr>3. So sánh chi tiết các khía cạnh kỹ thuật</vt:lpstr>
      <vt:lpstr>4. PHÂN TÍCH ƯU VÀ NHƯỢC ĐIỂM CHO NGƯỜI MỚI BẮT ĐẦU</vt:lpstr>
      <vt:lpstr>4. PHÂN TÍCH ƯU VÀ NHƯỢC ĐIỂM CHO NGƯỜI MỚI BẮT ĐẦU</vt:lpstr>
      <vt:lpstr>4. NHỮNG HIỂU BIẾT VỀ BẢO MẬT</vt:lpstr>
    </vt:vector>
  </TitlesOfParts>
  <Company>Kzonesoft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SÁNH CÔNG CỤ SOẠN THẢO VĂN BẢN (MS WORD - GOOGLE DOCS – LATEX)</dc:title>
  <dc:creator>SenetUser</dc:creator>
  <cp:lastModifiedBy>SenetUser</cp:lastModifiedBy>
  <cp:revision>7</cp:revision>
  <dcterms:created xsi:type="dcterms:W3CDTF">2026-03-20T16:56:19Z</dcterms:created>
  <dcterms:modified xsi:type="dcterms:W3CDTF">2026-03-20T17:50:00Z</dcterms:modified>
</cp:coreProperties>
</file>